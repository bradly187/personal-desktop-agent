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Personal Desktop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9CB4E8"/>
                </a:solidFill>
                <a:latin typeface="Segoe UI"/>
              </a:rPr>
              <a:t>System Study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Multimodal accessibility desktop control  ·  iPad sensor hub + RTX 5090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Architecture · 4-gate routing · 12 state machines · 42-table data model  · 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640080" cy="64008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44752"/>
            <a:ext cx="96012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A2E"/>
                </a:solidFill>
                <a:latin typeface="Segoe UI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47088"/>
            <a:ext cx="9875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What it is, the end-to-end pipeline, 4-gate routing, models, the agent kernel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16352"/>
            <a:ext cx="96012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A2E"/>
                </a:solidFill>
                <a:latin typeface="Segoe UI"/>
              </a:rPr>
              <a:t>State Machines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688"/>
            <a:ext cx="9875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12 machines — iPad sensors/UI (5) + PC agent kernel (7)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87952"/>
            <a:ext cx="96012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A2E"/>
                </a:solidFill>
                <a:latin typeface="Segoe UI"/>
              </a:rPr>
              <a:t>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90288"/>
            <a:ext cx="9875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Two-tier storage + 42-table agent.db grouped into 5 ER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Study this deck top-to-bottom; each section's diagrams map 1:1 to source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The mission, the pipeline, and how a command is routed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What Is This?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1">
                <a:solidFill>
                  <a:srgbClr val="1A1A2E"/>
                </a:solidFill>
                <a:latin typeface="Segoe UI"/>
              </a:rPr>
              <a:t>Multimodal accessibility desktop control for a single user with rheumatoid arthritis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An iPad Pro is the sensor hub + primary touch surface; a Windows PC + RTX 5090 runs inference and executes desktop actions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1">
                <a:solidFill>
                  <a:srgbClr val="1A1A2E"/>
                </a:solidFill>
                <a:latin typeface="Segoe UI"/>
              </a:rPr>
              <a:t>Four control surfaces, one vocabulary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Voice · hand gesture · iPad tilt · direct touch  →  a 16-verb action vocabulary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1">
                <a:solidFill>
                  <a:srgbClr val="1A1A2E"/>
                </a:solidFill>
                <a:latin typeface="Segoe UI"/>
              </a:rPr>
              <a:t>Local-first, privacy-first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100% local inference (Ollama → vLLM); cloud (Anthropic API) only as an escalation fallback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Gate 0 forces sensitive input local; every tool call lands in an append-only, hash-chained audit log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1">
                <a:solidFill>
                  <a:srgbClr val="1A1A2E"/>
                </a:solidFill>
                <a:latin typeface="Segoe UI"/>
              </a:rPr>
              <a:t>Scale of the system today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16 action verbs · 6-level sensor fusion @ 60 Hz · 42-table operational DB · ~1,440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CLAUDE.md · .kiro/specs/ipad-sensor-focus/requirements.md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End-to-End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iPad sensors stream over WebSocket → fused at 60 Hz → routed → executed on the Windows desktop</a:t>
            </a:r>
          </a:p>
        </p:txBody>
      </p:sp>
      <p:pic>
        <p:nvPicPr>
          <p:cNvPr id="8" name="Picture 7" descr="A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78854"/>
            <a:ext cx="11551615" cy="1797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core/ipad_bridge.py · core/fusion_engine.py · core/hybrid_coordinator.py · core/command_executor.py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How a Command Is Routed — 4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Each command passes privacy → confidence → complexity → VRAM → latency gates; the deciding gate is logged</a:t>
            </a:r>
          </a:p>
        </p:txBody>
      </p:sp>
      <p:pic>
        <p:nvPicPr>
          <p:cNvPr id="8" name="Picture 7" descr="A2-gate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42018"/>
            <a:ext cx="11551615" cy="1871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core/hybrid_coordinator.py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Inference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5167" y="1371600"/>
          <a:ext cx="1088136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840480"/>
                <a:gridCol w="4572000"/>
              </a:tblGrid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Domain</a:t>
                      </a:r>
                    </a:p>
                  </a:txBody>
                  <a:tcPr anchor="ctr">
                    <a:solidFill>
                      <a:srgbClr val="0E9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0E9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anchor="ctr">
                    <a:solidFill>
                      <a:srgbClr val="0E9F6E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llama3.1:8b (4.6 GB)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verb-first; ~190 ms warm p50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Code / Plan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qwen3-coder:30b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thinking ON; DevAgent specialist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Math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deepseek-r1:8b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chain-of-thought retained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Vision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qwen3-vl:30b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UI target → pixel grounding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gemma3:27b / gemma4:12b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resident slot, no eviction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12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Cloud fallback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claude-haiku-4-5 / opus-4-8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F4A"/>
                          </a:solidFill>
                          <a:latin typeface="Segoe UI"/>
                        </a:rPr>
                        <a:t>command / dev; 10 s breaker</a:t>
                      </a:r>
                    </a:p>
                  </a:txBody>
                  <a:tcPr anchor="ctr"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inference/local_inference.py · inference/model_router.py · RTX 5090 · 32 GB VRAM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Action Vocabulary — 16 Verbs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11 ACCESSIBILITY VERBS  (iPad sensor pipeline)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CLICK · MOUSEDOWN · MOUSEUP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SCROLL · TYPE · DICTATE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OPEN · CLOSE · HOTKEY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CLARIFY · SCREENSHOT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Verb-first format from llama3.1:8b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5 DEV-AGENT VERBS  (specialist models)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WRITE_FILE · RUN_TERMINAL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EXPLAIN · SEARCH_WEB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READ_SCREEN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Free-form; emitted via DevAgent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     – </a:t>
            </a:r>
            <a:r>
              <a:rPr sz="1300" b="0">
                <a:solidFill>
                  <a:srgbClr val="3A3F4A"/>
                </a:solidFill>
                <a:latin typeface="Segoe UI"/>
              </a:rPr>
              <a:t>DomainClassifier picks the pipeline; CommandExecutor handles all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core/command_executor.py · core/domain_classifier.py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The Agent Kernel — AIOS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AccessibilityScheduler — priority queue, 5 tiers; accessibility/voice/gesture run concurrently, dev/background are semaphore-gated so they never starve the user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ResourceGovernor — pain-aware; on a flare it evicts heavy models, pauses the indexer + dev admission, and relaxes sensor thresholds (hysteresis 0.6 / 0.4)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Supervisor — one-for-one liveness watchdog; restarts dead loops under a bounded budget, latches FAILED and degrades gracefully (TTS warning)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CircuitBreaker — latches a down inference backend so it fast-fails instead of costing a full timeout per call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MemoryManager — a syscall façade over agent.db + SemanticMemory with schema-validated writes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</a:rPr>
              <a:t>▸  </a:t>
            </a:r>
            <a:r>
              <a:rPr sz="1600" b="0">
                <a:solidFill>
                  <a:srgbClr val="1A1A2E"/>
                </a:solidFill>
                <a:latin typeface="Segoe UI"/>
              </a:rPr>
              <a:t>Saga + goal_queue — durable, idempotent, rollback-safe autonomous execution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→ Each of these is a state machine. The next section diagrams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core/scheduler.py · resource_governor.py · supervisor.py · circuit_breaker.py · storage/memory_manager.py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C3AED"/>
                </a:solidFill>
                <a:latin typeface="Segoe U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State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12 machines — how each subsystem behaves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App Top-Level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1/5</a:t>
            </a:r>
          </a:p>
        </p:txBody>
      </p:sp>
      <p:pic>
        <p:nvPicPr>
          <p:cNvPr id="7" name="Picture 6" descr="01-ipadapp-top-level-applicatio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293" y="1143000"/>
            <a:ext cx="3971108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DesktopAgentApp · SensorManager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WebSocket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2/5</a:t>
            </a:r>
          </a:p>
        </p:txBody>
      </p:sp>
      <p:pic>
        <p:nvPicPr>
          <p:cNvPr id="7" name="Picture 6" descr="02-websocketmanager-connection-state-mac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851" y="1143000"/>
            <a:ext cx="5947992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WebSocketManager.swift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Tilt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3/5</a:t>
            </a:r>
          </a:p>
        </p:txBody>
      </p:sp>
      <p:pic>
        <p:nvPicPr>
          <p:cNvPr id="7" name="Picture 6" descr="03-tiltsensor-navigation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14" y="1143000"/>
            <a:ext cx="6414867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TiltSensor.swift (Core Motion)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Keyword Listener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4/5</a:t>
            </a:r>
          </a:p>
        </p:txBody>
      </p:sp>
      <p:pic>
        <p:nvPicPr>
          <p:cNvPr id="7" name="Picture 6" descr="04-keywordlistener-recognition-state-mac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510" y="1143000"/>
            <a:ext cx="6844674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KeywordListener.swift (Speech)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UI View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5/5</a:t>
            </a:r>
          </a:p>
        </p:txBody>
      </p:sp>
      <p:pic>
        <p:nvPicPr>
          <p:cNvPr id="7" name="Picture 6" descr="05-appmode-ui-view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32" y="1143000"/>
            <a:ext cx="5114231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SwiftUI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FusionEngine — 6-Level Tick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1/7</a:t>
            </a:r>
          </a:p>
        </p:txBody>
      </p:sp>
      <p:pic>
        <p:nvPicPr>
          <p:cNvPr id="7" name="Picture 6" descr="06-fusionengine-6-level-priority-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145" y="1143000"/>
            <a:ext cx="3963405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core/fusion_engine.py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Gyro Bias Calibrator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2/7</a:t>
            </a:r>
          </a:p>
        </p:txBody>
      </p:sp>
      <p:pic>
        <p:nvPicPr>
          <p:cNvPr id="7" name="Picture 6" descr="07-gyrobiascalibrator-tilt-drift-compens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74" y="1143000"/>
            <a:ext cx="4495347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calibration/gyro_bias_calibrator.py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Circuit Breaker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3/7</a:t>
            </a:r>
          </a:p>
        </p:txBody>
      </p:sp>
      <p:pic>
        <p:nvPicPr>
          <p:cNvPr id="7" name="Picture 6" descr="08-circuitbreaker-inference-backend-l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41" y="1143000"/>
            <a:ext cx="4724012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core/circuit_breaker.py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Resource Governor (Flare)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4/7</a:t>
            </a:r>
          </a:p>
        </p:txBody>
      </p:sp>
      <p:pic>
        <p:nvPicPr>
          <p:cNvPr id="7" name="Picture 6" descr="09-resourcegovernor-pain-aware-flare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571" y="1143000"/>
            <a:ext cx="4762553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core/resource_governor.py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Supervisor Restart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5/7</a:t>
            </a:r>
          </a:p>
        </p:txBody>
      </p:sp>
      <p:pic>
        <p:nvPicPr>
          <p:cNvPr id="7" name="Picture 6" descr="10-supervisor-per-subsystem-restart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33" y="1143000"/>
            <a:ext cx="5763428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core/supervisor.py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Goal-Queue Row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6/7</a:t>
            </a:r>
          </a:p>
        </p:txBody>
      </p:sp>
      <p:pic>
        <p:nvPicPr>
          <p:cNvPr id="7" name="Picture 6" descr="11-goal-queue-row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273" y="1143000"/>
            <a:ext cx="7739149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storage/db.py · goal_queue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Agent-Run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  7/7</a:t>
            </a:r>
          </a:p>
        </p:txBody>
      </p:sp>
      <p:pic>
        <p:nvPicPr>
          <p:cNvPr id="7" name="Picture 6" descr="12-agent-ru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49" y="1143000"/>
            <a:ext cx="9000596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Source: storage/db.py · agent_runs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D9730D"/>
                </a:solidFill>
                <a:latin typeface="Segoe U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Two-tier storage and the 42-table operational schema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Two-Tier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SQLite on the hot path, DuckDB for analytics (zero-ETL attach), ChromaDB for RAG, append-only audit.db</a:t>
            </a:r>
          </a:p>
        </p:txBody>
      </p:sp>
      <p:pic>
        <p:nvPicPr>
          <p:cNvPr id="8" name="Picture 7" descr="D1-storag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03" y="1600200"/>
            <a:ext cx="10442089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storage/db.py · storage/audit_log.py · storage/semantic_memory.py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Core Star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commands is the central fact table; sessions is the anchor</a:t>
            </a:r>
          </a:p>
        </p:txBody>
      </p:sp>
      <p:pic>
        <p:nvPicPr>
          <p:cNvPr id="8" name="Picture 7" descr="D2-core-star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223" y="1600200"/>
            <a:ext cx="3991248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storage/db.py — sessions · commands · inferences · sensor_events · session_summaries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Dev-Agent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Durable goal queue → runs → steps, with saga rollback + escalation</a:t>
            </a:r>
          </a:p>
        </p:txBody>
      </p:sp>
      <p:pic>
        <p:nvPicPr>
          <p:cNvPr id="8" name="Picture 7" descr="D3-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170" y="1600200"/>
            <a:ext cx="3591354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storage/db.py — goal_queue · agent_runs · agent_steps · saga_compensations · dev_escalations · tool_calls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Learning &amp;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Few-shot examples/counterexamples, gesture calibration, threshold history</a:t>
            </a:r>
          </a:p>
        </p:txBody>
      </p:sp>
      <p:pic>
        <p:nvPicPr>
          <p:cNvPr id="8" name="Picture 7" descr="D4-learning-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07359"/>
            <a:ext cx="11551615" cy="2740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storage/db.py — few_shot_* · gesture_* · settings_versions · adaptation_log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Behavioral Twin &amp; 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Pain-day signals, session history, and per-condition voice calibration</a:t>
            </a:r>
          </a:p>
        </p:txBody>
      </p:sp>
      <p:pic>
        <p:nvPicPr>
          <p:cNvPr id="8" name="Picture 7" descr="D5-twin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21005"/>
            <a:ext cx="11551615" cy="23132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storage/db.py — twin_* · voice_* · sensor_rom · flare_profile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4320"/>
            <a:ext cx="91440" cy="42062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"/>
            <a:ext cx="85953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1A1A2E"/>
                </a:solidFill>
                <a:latin typeface="Segoe UI"/>
              </a:rPr>
              <a:t>Telemetry, Events &amp;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01752"/>
            <a:ext cx="2194560" cy="36576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1 Hz sensor snapshots, the event bus, and rate-limit/observability config</a:t>
            </a:r>
          </a:p>
        </p:txBody>
      </p:sp>
      <p:pic>
        <p:nvPicPr>
          <p:cNvPr id="8" name="Picture 7" descr="D6-telemetry-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81030"/>
            <a:ext cx="11551615" cy="25932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storage/db.py — sensor_telemetry · event_log · event_consumers · rate_limit_* · tool_*_config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Where Everything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2286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>
                <a:solidFill>
                  <a:srgbClr val="9CB4E8"/>
                </a:solidFill>
                <a:latin typeface="Segoe UI"/>
              </a:rPr>
              <a:t>Diagrams (Mermaid source + PNG):  </a:t>
            </a:r>
            <a:r>
              <a:rPr sz="1400" b="0">
                <a:solidFill>
                  <a:srgbClr val="FFFFFF"/>
                </a:solidFill>
                <a:latin typeface="Segoe UI"/>
              </a:rPr>
              <a:t>docs/diagrams/{state,overview,db}/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>
                <a:solidFill>
                  <a:srgbClr val="9CB4E8"/>
                </a:solidFill>
                <a:latin typeface="Segoe UI"/>
              </a:rPr>
              <a:t>State-machine spec:  </a:t>
            </a:r>
            <a:r>
              <a:rPr sz="1400" b="0">
                <a:solidFill>
                  <a:srgbClr val="FFFFFF"/>
                </a:solidFill>
                <a:latin typeface="Segoe UI"/>
              </a:rPr>
              <a:t>.kiro/specs/ipad-sensor-focus/diagrams/04-state-machines.md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>
                <a:solidFill>
                  <a:srgbClr val="9CB4E8"/>
                </a:solidFill>
                <a:latin typeface="Segoe UI"/>
              </a:rPr>
              <a:t>DB design rationale:  </a:t>
            </a:r>
            <a:r>
              <a:rPr sz="1400" b="0">
                <a:solidFill>
                  <a:srgbClr val="FFFFFF"/>
                </a:solidFill>
                <a:latin typeface="Segoe UI"/>
              </a:rPr>
              <a:t>docs/architecture/database-design.md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>
                <a:solidFill>
                  <a:srgbClr val="9CB4E8"/>
                </a:solidFill>
                <a:latin typeface="Segoe UI"/>
              </a:rPr>
              <a:t>Project orientation:  </a:t>
            </a:r>
            <a:r>
              <a:rPr sz="1400" b="0">
                <a:solidFill>
                  <a:srgbClr val="FFFFFF"/>
                </a:solidFill>
                <a:latin typeface="Segoe UI"/>
              </a:rPr>
              <a:t>CLAUDE.md  (status, key files, conventions)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>
                <a:solidFill>
                  <a:srgbClr val="9CB4E8"/>
                </a:solidFill>
                <a:latin typeface="Segoe UI"/>
              </a:rPr>
              <a:t>Rebuild this deck:  </a:t>
            </a:r>
            <a:r>
              <a:rPr sz="1400" b="0">
                <a:solidFill>
                  <a:srgbClr val="FFFFFF"/>
                </a:solidFill>
                <a:latin typeface="Segoe UI"/>
              </a:rPr>
              <a:t>python docs/diagrams/build_deck.py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